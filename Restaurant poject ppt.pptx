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1" r:id="rId3"/>
    <p:sldId id="260" r:id="rId4"/>
    <p:sldId id="272" r:id="rId5"/>
    <p:sldId id="274" r:id="rId6"/>
    <p:sldId id="273" r:id="rId7"/>
    <p:sldId id="262" r:id="rId8"/>
    <p:sldId id="263" r:id="rId9"/>
    <p:sldId id="264" r:id="rId10"/>
    <p:sldId id="265" r:id="rId11"/>
    <p:sldId id="266" r:id="rId12"/>
    <p:sldId id="275" r:id="rId13"/>
    <p:sldId id="276" r:id="rId14"/>
    <p:sldId id="267" r:id="rId15"/>
    <p:sldId id="268" r:id="rId16"/>
    <p:sldId id="269" r:id="rId17"/>
    <p:sldId id="270" r:id="rId18"/>
    <p:sldId id="259" r:id="rId19"/>
  </p:sldIdLst>
  <p:sldSz cx="12192000" cy="6858000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Libre Baskerville" panose="02000000000000000000" pitchFamily="2" charset="0"/>
      <p:regular r:id="rId22"/>
      <p:bold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Offer student combo deals &amp; loyalty plans</a:t>
            </a:r>
          </a:p>
          <a:p>
            <a:pPr lvl="1"/>
            <a:r>
              <a:rPr lang="en-US" dirty="0"/>
              <a:t>Improve food quality in low-rated restaurants</a:t>
            </a:r>
          </a:p>
          <a:p>
            <a:pPr lvl="1"/>
            <a:r>
              <a:rPr lang="en-US" dirty="0"/>
              <a:t>Promote popular cuisines like Mexican/American</a:t>
            </a:r>
          </a:p>
          <a:p>
            <a:pPr lvl="1"/>
            <a:r>
              <a:rPr lang="en-US" dirty="0"/>
              <a:t>Enhance parking facilities</a:t>
            </a:r>
          </a:p>
          <a:p>
            <a:pPr lvl="1"/>
            <a:r>
              <a:rPr lang="en-US" dirty="0"/>
              <a:t>Expand successful franchise-style restaurants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2815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1"/>
            <a:ext cx="1219140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006788"/>
            <a:ext cx="7246189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36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600" b="1" dirty="0">
                <a:solidFill>
                  <a:srgbClr val="FF0000"/>
                </a:solidFill>
              </a:rPr>
              <a:t>Restaurant &amp; Consumer Data Analysis</a:t>
            </a:r>
            <a:endParaRPr sz="3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9;p1">
            <a:extLst>
              <a:ext uri="{FF2B5EF4-FFF2-40B4-BE49-F238E27FC236}">
                <a16:creationId xmlns:a16="http://schemas.microsoft.com/office/drawing/2014/main" id="{69F5A85C-4E3C-983F-529F-ECBC8938F32C}"/>
              </a:ext>
            </a:extLst>
          </p:cNvPr>
          <p:cNvSpPr txBox="1"/>
          <p:nvPr/>
        </p:nvSpPr>
        <p:spPr>
          <a:xfrm>
            <a:off x="296971" y="5833532"/>
            <a:ext cx="270869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- By Anil Kumar </a:t>
            </a:r>
            <a:r>
              <a:rPr lang="en-IN" sz="1800" b="1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IN" sz="1800" b="1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otnuru</a:t>
            </a:r>
            <a:endParaRPr sz="18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52EF3-E898-4C81-C5CF-D94C4182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329" y="365126"/>
            <a:ext cx="2269067" cy="86254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Lato Black"/>
              </a:rPr>
              <a:t>About me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D33D7-C587-B562-1204-6B0D91823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9733" y="1207557"/>
            <a:ext cx="10515600" cy="926043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200" dirty="0"/>
              <a:t>Hello, my name is </a:t>
            </a:r>
            <a:r>
              <a:rPr lang="en-US" sz="2200" b="1" dirty="0"/>
              <a:t>Anil Kumar Potnuru</a:t>
            </a:r>
            <a:r>
              <a:rPr lang="en-US" sz="2200" dirty="0"/>
              <a:t>. I have completed my Bachelor’s degree in Computer Science and Engineering, from Gayatri vidya parishad college. 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CC7624-3882-9E41-642E-C441BDD6E577}"/>
              </a:ext>
            </a:extLst>
          </p:cNvPr>
          <p:cNvSpPr txBox="1">
            <a:spLocks/>
          </p:cNvSpPr>
          <p:nvPr/>
        </p:nvSpPr>
        <p:spPr>
          <a:xfrm>
            <a:off x="838200" y="2544760"/>
            <a:ext cx="2269067" cy="86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sz="2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2EE2A8-EF67-42D3-5539-7367B37BD398}"/>
              </a:ext>
            </a:extLst>
          </p:cNvPr>
          <p:cNvSpPr txBox="1">
            <a:spLocks/>
          </p:cNvSpPr>
          <p:nvPr/>
        </p:nvSpPr>
        <p:spPr>
          <a:xfrm>
            <a:off x="499529" y="2811989"/>
            <a:ext cx="3937000" cy="86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Data Analytics?</a:t>
            </a:r>
          </a:p>
          <a:p>
            <a:endParaRPr lang="en-IN" sz="2800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FC84115-9CD4-2B84-C0DA-442979E755B8}"/>
              </a:ext>
            </a:extLst>
          </p:cNvPr>
          <p:cNvSpPr txBox="1"/>
          <p:nvPr/>
        </p:nvSpPr>
        <p:spPr>
          <a:xfrm>
            <a:off x="878909" y="3852501"/>
            <a:ext cx="104341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Honestly, I wasn’t much interested in traditional IT or  coding side of computer science, but I’ve always loved working with data. Especially when I saw how data is used in real-time like in cricket and other sports create real-time insights inspired me to pursue Data Analytics as a career path.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8628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7466C-D73D-2520-F00C-9F9DB85CB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        Objective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BCA47-3D76-8B69-AA1E-F05806926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Analyze restaurant attributes, cuisines, pricing, and ratings</a:t>
            </a:r>
          </a:p>
          <a:p>
            <a:pPr lvl="1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Understand consumer preferences, and behavior</a:t>
            </a:r>
          </a:p>
          <a:p>
            <a:pPr lvl="1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Apply SQL queries: JOIN, WHERE, GROUP BY, HAVING, CTE, DERIVED TABLES</a:t>
            </a:r>
          </a:p>
          <a:p>
            <a:pPr lvl="1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Generate business insights for restaurant improvement</a:t>
            </a:r>
          </a:p>
        </p:txBody>
      </p:sp>
      <p:pic>
        <p:nvPicPr>
          <p:cNvPr id="1026" name="Picture 2" descr="Objective Images - Free Download on Freepik">
            <a:extLst>
              <a:ext uri="{FF2B5EF4-FFF2-40B4-BE49-F238E27FC236}">
                <a16:creationId xmlns:a16="http://schemas.microsoft.com/office/drawing/2014/main" id="{B8275C36-16F3-221D-11CB-B960A46D8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3405"/>
            <a:ext cx="855133" cy="85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951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F3651C3-7486-0A4C-1FC6-F5DEE7BAB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68" y="1016175"/>
            <a:ext cx="774603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Restaurant Table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restaurant details (location, price, alcohol service, parking).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Columns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restaurant_id, name, city, price, parking.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8DA835-77D2-FD5F-6616-916F2F47E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68" y="2193036"/>
            <a:ext cx="874470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Consumers Table: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demographic &amp; behavior info. 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Columns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consumer_id, age, occupation, smoker, drink level, budget.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1FCA58-D6B5-B673-DE4F-80B7ED8BBFD4}"/>
              </a:ext>
            </a:extLst>
          </p:cNvPr>
          <p:cNvSpPr txBox="1"/>
          <p:nvPr/>
        </p:nvSpPr>
        <p:spPr>
          <a:xfrm>
            <a:off x="872068" y="3446096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Ratings Table:</a:t>
            </a:r>
          </a:p>
          <a:p>
            <a:pPr>
              <a:buNone/>
            </a:pPr>
            <a:r>
              <a:rPr lang="en-US" sz="2000" dirty="0"/>
              <a:t>Stores ratings given by consumers to restaurants.</a:t>
            </a:r>
            <a:br>
              <a:rPr lang="en-US" sz="2000" dirty="0"/>
            </a:br>
            <a:r>
              <a:rPr lang="en-US" sz="2000" dirty="0"/>
              <a:t>Columns: overall_rating, food_rating, service rating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7C65D-260A-9F8F-EC8F-33BB3B21F2AC}"/>
              </a:ext>
            </a:extLst>
          </p:cNvPr>
          <p:cNvSpPr txBox="1"/>
          <p:nvPr/>
        </p:nvSpPr>
        <p:spPr>
          <a:xfrm>
            <a:off x="872068" y="4639887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Cuisine &amp; Preferences:</a:t>
            </a:r>
          </a:p>
          <a:p>
            <a:r>
              <a:rPr lang="en-US" sz="2000" dirty="0"/>
              <a:t>Restaurant cuisine → restaurant cuisines.</a:t>
            </a:r>
          </a:p>
          <a:p>
            <a:r>
              <a:rPr lang="en-US" sz="2000" dirty="0"/>
              <a:t>Consumer preferences → cuisines liked by consumers.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49B31DF-A351-21B5-65B0-32684DBCF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731000" cy="489852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Dataset &amp; Schema Overview</a:t>
            </a:r>
          </a:p>
        </p:txBody>
      </p:sp>
    </p:spTree>
    <p:extLst>
      <p:ext uri="{BB962C8B-B14F-4D97-AF65-F5344CB8AC3E}">
        <p14:creationId xmlns:p14="http://schemas.microsoft.com/office/powerpoint/2010/main" val="222352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10D33A-C074-B869-48AA-242258393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29" y="1117597"/>
            <a:ext cx="4800509" cy="2065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5BF98A-4170-B137-C196-3BE22A308CBA}"/>
              </a:ext>
            </a:extLst>
          </p:cNvPr>
          <p:cNvSpPr txBox="1"/>
          <p:nvPr/>
        </p:nvSpPr>
        <p:spPr>
          <a:xfrm>
            <a:off x="6134323" y="1620876"/>
            <a:ext cx="182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rial Black" panose="020B0A04020102020204" pitchFamily="34" charset="0"/>
              </a:rPr>
              <a:t>Consumers</a:t>
            </a:r>
            <a:endParaRPr lang="en-IN" sz="1800" b="1" dirty="0">
              <a:latin typeface="Arial Black" panose="020B0A040201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E72BC47-445F-F0B6-76E7-460E6C8AF1D0}"/>
              </a:ext>
            </a:extLst>
          </p:cNvPr>
          <p:cNvSpPr/>
          <p:nvPr/>
        </p:nvSpPr>
        <p:spPr>
          <a:xfrm flipH="1" flipV="1">
            <a:off x="5649503" y="1617134"/>
            <a:ext cx="442044" cy="3693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0FB856-CF0A-8A7F-F5E0-2496081B6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968" y="2708308"/>
            <a:ext cx="3629965" cy="20657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2794AB-2133-F2B3-0B24-61541AABB08D}"/>
              </a:ext>
            </a:extLst>
          </p:cNvPr>
          <p:cNvSpPr txBox="1"/>
          <p:nvPr/>
        </p:nvSpPr>
        <p:spPr>
          <a:xfrm>
            <a:off x="9758053" y="1549398"/>
            <a:ext cx="129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rial Black" panose="020B0A04020102020204" pitchFamily="34" charset="0"/>
              </a:rPr>
              <a:t>Ratings</a:t>
            </a:r>
            <a:endParaRPr lang="en-IN" sz="1800" b="1" dirty="0">
              <a:latin typeface="Arial Black" panose="020B0A040201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E97141C-543E-3FA5-C19F-F15525627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63" y="288923"/>
            <a:ext cx="5037667" cy="48985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Dataset &amp; Schema Overview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587C20-4D72-F17A-C6ED-87675E1B1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30" y="3737399"/>
            <a:ext cx="5278749" cy="2403743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89D6F503-9644-9B90-7D74-368F535F6661}"/>
              </a:ext>
            </a:extLst>
          </p:cNvPr>
          <p:cNvSpPr/>
          <p:nvPr/>
        </p:nvSpPr>
        <p:spPr>
          <a:xfrm>
            <a:off x="10164233" y="2006034"/>
            <a:ext cx="330200" cy="402220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379EE3-EA5A-E486-DA2C-99A65FFA07DD}"/>
              </a:ext>
            </a:extLst>
          </p:cNvPr>
          <p:cNvSpPr txBox="1"/>
          <p:nvPr/>
        </p:nvSpPr>
        <p:spPr>
          <a:xfrm>
            <a:off x="6980991" y="5236152"/>
            <a:ext cx="182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rial Black" panose="020B0A04020102020204" pitchFamily="34" charset="0"/>
              </a:rPr>
              <a:t>Consumers</a:t>
            </a:r>
            <a:endParaRPr lang="en-IN" sz="1800" b="1" dirty="0">
              <a:latin typeface="Arial Black" panose="020B0A04020102020204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577307B-88F3-2F15-D952-0FEE48529227}"/>
              </a:ext>
            </a:extLst>
          </p:cNvPr>
          <p:cNvSpPr/>
          <p:nvPr/>
        </p:nvSpPr>
        <p:spPr>
          <a:xfrm>
            <a:off x="6401690" y="5236152"/>
            <a:ext cx="430910" cy="3693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4451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AF1E2A-6131-6CBF-56EB-C91766B97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533" y="263303"/>
            <a:ext cx="2572091" cy="345560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5049583-8147-8990-CF6D-212E9B738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63" y="288923"/>
            <a:ext cx="5037667" cy="48985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Dataset &amp; Schema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4F9D2F-8CA1-1D53-1BA8-9729C92C0105}"/>
              </a:ext>
            </a:extLst>
          </p:cNvPr>
          <p:cNvSpPr txBox="1"/>
          <p:nvPr/>
        </p:nvSpPr>
        <p:spPr>
          <a:xfrm>
            <a:off x="4267203" y="1015999"/>
            <a:ext cx="2225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rial Black" panose="020B0A04020102020204" pitchFamily="34" charset="0"/>
              </a:rPr>
              <a:t>Restaurants Cuisine</a:t>
            </a:r>
            <a:endParaRPr lang="en-IN" sz="1800" b="1" dirty="0">
              <a:latin typeface="Arial Black" panose="020B0A04020102020204" pitchFamily="34" charset="0"/>
            </a:endParaRP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11443C7B-C4A2-3DE4-BA86-CE096C128B98}"/>
              </a:ext>
            </a:extLst>
          </p:cNvPr>
          <p:cNvSpPr/>
          <p:nvPr/>
        </p:nvSpPr>
        <p:spPr>
          <a:xfrm>
            <a:off x="6231467" y="1270000"/>
            <a:ext cx="550333" cy="321733"/>
          </a:xfrm>
          <a:prstGeom prst="notch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4E3960-41FA-CAA5-7A78-F2F59AD41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180796"/>
            <a:ext cx="2572091" cy="33315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37058D-674C-3377-1524-8494D7F9DCB6}"/>
              </a:ext>
            </a:extLst>
          </p:cNvPr>
          <p:cNvSpPr txBox="1"/>
          <p:nvPr/>
        </p:nvSpPr>
        <p:spPr>
          <a:xfrm>
            <a:off x="728136" y="4436533"/>
            <a:ext cx="2225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rial Black" panose="020B0A04020102020204" pitchFamily="34" charset="0"/>
              </a:rPr>
              <a:t>Consumer Preference</a:t>
            </a:r>
            <a:endParaRPr lang="en-IN" sz="1800" b="1" dirty="0">
              <a:latin typeface="Arial Black" panose="020B0A04020102020204" pitchFamily="34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38D5532-BEDA-BB94-8CD0-585121FE59C6}"/>
              </a:ext>
            </a:extLst>
          </p:cNvPr>
          <p:cNvSpPr/>
          <p:nvPr/>
        </p:nvSpPr>
        <p:spPr>
          <a:xfrm>
            <a:off x="2953494" y="4588933"/>
            <a:ext cx="490664" cy="35560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781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020693-8F3B-CAE1-F04C-7C89CC9B6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5576"/>
            <a:ext cx="12191999" cy="62824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50D6F5-F74B-793C-A3E8-67B401277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7" y="68790"/>
            <a:ext cx="6731000" cy="48985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ER-Diagram overview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583074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E4122A-70EA-92A5-1987-2281E55AD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875" y="1316959"/>
            <a:ext cx="8640381" cy="21120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2CEBCB-1E8A-8F0D-16FC-C3ACF94F4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267" y="3533525"/>
            <a:ext cx="2294467" cy="2351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508F55-86C1-C010-070B-92E50190C962}"/>
              </a:ext>
            </a:extLst>
          </p:cNvPr>
          <p:cNvSpPr txBox="1"/>
          <p:nvPr/>
        </p:nvSpPr>
        <p:spPr>
          <a:xfrm>
            <a:off x="611643" y="239514"/>
            <a:ext cx="1024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Query</a:t>
            </a:r>
            <a:endParaRPr lang="en-IN" sz="2000" b="1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3E90FC-8A1A-3B9F-96B2-E12EB760A0A1}"/>
              </a:ext>
            </a:extLst>
          </p:cNvPr>
          <p:cNvSpPr txBox="1"/>
          <p:nvPr/>
        </p:nvSpPr>
        <p:spPr>
          <a:xfrm>
            <a:off x="1185332" y="735682"/>
            <a:ext cx="10041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 Black" panose="020B0A04020102020204" pitchFamily="34" charset="0"/>
              </a:rPr>
              <a:t>Find the Consumer id, Age, and Occupation of all consumers who are ‘students’ and are ‘smokers’</a:t>
            </a:r>
            <a:endParaRPr lang="en-IN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747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639154-43ED-44D1-B024-7D370DB4E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637" y="1043459"/>
            <a:ext cx="7315764" cy="2560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EDE0DC-A79A-CCD9-547D-47825FA37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637" y="3629204"/>
            <a:ext cx="3008503" cy="27520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2CEA3A-511D-DA2B-91CC-079C664A3672}"/>
              </a:ext>
            </a:extLst>
          </p:cNvPr>
          <p:cNvSpPr txBox="1"/>
          <p:nvPr/>
        </p:nvSpPr>
        <p:spPr>
          <a:xfrm>
            <a:off x="611643" y="239514"/>
            <a:ext cx="1024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Query</a:t>
            </a:r>
            <a:endParaRPr lang="en-IN" sz="2000" b="1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CC3DC4-01A5-8F01-E642-E44A23072B1F}"/>
              </a:ext>
            </a:extLst>
          </p:cNvPr>
          <p:cNvSpPr txBox="1"/>
          <p:nvPr/>
        </p:nvSpPr>
        <p:spPr>
          <a:xfrm>
            <a:off x="1185332" y="735682"/>
            <a:ext cx="10041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 Black" panose="020B0A04020102020204" pitchFamily="34" charset="0"/>
              </a:rPr>
              <a:t>Find Consumer id and Age of consumers who rated restaurants located in ‘San Luis Potosi’.</a:t>
            </a:r>
            <a:endParaRPr lang="en-IN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561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95883B-811A-E80E-9310-7A1C40A05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97" y="3784603"/>
            <a:ext cx="10160000" cy="2438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65D583-09AE-516A-64F6-A233737EE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197" y="1061334"/>
            <a:ext cx="7811590" cy="27232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2CB444-3599-48CB-9607-7A4D02908E12}"/>
              </a:ext>
            </a:extLst>
          </p:cNvPr>
          <p:cNvSpPr txBox="1"/>
          <p:nvPr/>
        </p:nvSpPr>
        <p:spPr>
          <a:xfrm>
            <a:off x="990598" y="693347"/>
            <a:ext cx="10041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 Black" panose="020B0A04020102020204" pitchFamily="34" charset="0"/>
              </a:rPr>
              <a:t>Find all details of consumers who prefer ‘America’ cuisine AND have a ‘Medium’ budget.</a:t>
            </a: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4753C-17E6-1A50-778F-95F09A3AEEF7}"/>
              </a:ext>
            </a:extLst>
          </p:cNvPr>
          <p:cNvSpPr txBox="1"/>
          <p:nvPr/>
        </p:nvSpPr>
        <p:spPr>
          <a:xfrm>
            <a:off x="611643" y="239514"/>
            <a:ext cx="1024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Query</a:t>
            </a:r>
            <a:endParaRPr lang="en-IN" sz="2000" b="1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915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DD79CB-FC4A-74D0-58A4-778127BA4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804" y="1279709"/>
            <a:ext cx="4363059" cy="1957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36E75F-4651-2F15-40F6-CD62F3BD5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337" y="3237211"/>
            <a:ext cx="2105319" cy="29180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3D2F4D-3FD5-C29A-CF6B-91FBD04E6C49}"/>
              </a:ext>
            </a:extLst>
          </p:cNvPr>
          <p:cNvSpPr txBox="1"/>
          <p:nvPr/>
        </p:nvSpPr>
        <p:spPr>
          <a:xfrm>
            <a:off x="611643" y="239514"/>
            <a:ext cx="1024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Query</a:t>
            </a:r>
            <a:endParaRPr lang="en-IN" sz="2000" b="1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AE456F-704F-AA0F-4FAC-AC0B127F6D3F}"/>
              </a:ext>
            </a:extLst>
          </p:cNvPr>
          <p:cNvSpPr txBox="1"/>
          <p:nvPr/>
        </p:nvSpPr>
        <p:spPr>
          <a:xfrm>
            <a:off x="990598" y="693347"/>
            <a:ext cx="10041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 Black" panose="020B0A04020102020204" pitchFamily="34" charset="0"/>
              </a:rPr>
              <a:t>Which cuisines have the highest number of restaurants? </a:t>
            </a:r>
            <a:endParaRPr lang="en-IN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380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8D82A-745A-5AEB-4456-C5CDFB6FF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068" y="1199839"/>
            <a:ext cx="4174332" cy="22291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07CE80-87C7-BA7F-49AB-0509EEB53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068" y="3493888"/>
            <a:ext cx="3991532" cy="26707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0E9A82-CC3F-B082-7D1D-5E1521646885}"/>
              </a:ext>
            </a:extLst>
          </p:cNvPr>
          <p:cNvSpPr txBox="1"/>
          <p:nvPr/>
        </p:nvSpPr>
        <p:spPr>
          <a:xfrm>
            <a:off x="990598" y="693347"/>
            <a:ext cx="10041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 Black" panose="020B0A04020102020204" pitchFamily="34" charset="0"/>
              </a:rPr>
              <a:t>Find which restaurant is having  the high ratings.</a:t>
            </a: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54FC88-2DC0-C8DF-977B-A748486010F7}"/>
              </a:ext>
            </a:extLst>
          </p:cNvPr>
          <p:cNvSpPr txBox="1"/>
          <p:nvPr/>
        </p:nvSpPr>
        <p:spPr>
          <a:xfrm>
            <a:off x="609584" y="245524"/>
            <a:ext cx="111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Query</a:t>
            </a:r>
            <a:endParaRPr lang="en-IN" sz="2000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393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729245-988B-F4E4-88A2-32F711849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30" y="1228598"/>
            <a:ext cx="8516539" cy="1810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448D02-85C7-E138-38E2-776B4C306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30" y="3038601"/>
            <a:ext cx="10497740" cy="24558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0C917F-8102-4288-23A9-5A13477DB2BB}"/>
              </a:ext>
            </a:extLst>
          </p:cNvPr>
          <p:cNvSpPr txBox="1"/>
          <p:nvPr/>
        </p:nvSpPr>
        <p:spPr>
          <a:xfrm>
            <a:off x="611643" y="239514"/>
            <a:ext cx="1024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Query</a:t>
            </a:r>
            <a:endParaRPr lang="en-IN" sz="2000" b="1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4A90FD-15E3-F931-63B6-33AAC6B4D48E}"/>
              </a:ext>
            </a:extLst>
          </p:cNvPr>
          <p:cNvSpPr txBox="1"/>
          <p:nvPr/>
        </p:nvSpPr>
        <p:spPr>
          <a:xfrm>
            <a:off x="990598" y="693347"/>
            <a:ext cx="10041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 Black" panose="020B0A04020102020204" pitchFamily="34" charset="0"/>
              </a:rPr>
              <a:t>Find Married consumers whose Food_rating = Service_Rating for ratings with overall Rating = 2.</a:t>
            </a:r>
            <a:endParaRPr lang="en-IN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633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5C604D-DC8D-D9DF-1DE1-A65938D7C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        Business Insights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9AFFA7-E1C5-4159-B9DE-BDAF22BF3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4894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n-US" sz="3200" dirty="0"/>
              <a:t>Mexican cuisine highly preferred → High demand</a:t>
            </a:r>
          </a:p>
          <a:p>
            <a:pPr lvl="1"/>
            <a:r>
              <a:rPr lang="en-US" sz="3200" dirty="0"/>
              <a:t>Students are active reviewers → Target promotions</a:t>
            </a:r>
          </a:p>
          <a:p>
            <a:pPr lvl="1"/>
            <a:r>
              <a:rPr lang="en-US" sz="3200" dirty="0"/>
              <a:t>Low food-rated restaurants need improvement.</a:t>
            </a:r>
          </a:p>
          <a:p>
            <a:pPr lvl="1"/>
            <a:r>
              <a:rPr lang="en-US" sz="3200" dirty="0"/>
              <a:t>Parking availability impacts restaurant visits.</a:t>
            </a:r>
          </a:p>
          <a:p>
            <a:pPr lvl="1"/>
            <a:r>
              <a:rPr lang="en-US" sz="3200" dirty="0"/>
              <a:t>Mid-priced restaurants with alcohol perform well.</a:t>
            </a:r>
          </a:p>
          <a:p>
            <a:pPr lvl="1"/>
            <a:r>
              <a:rPr lang="en-US" sz="3200" dirty="0"/>
              <a:t>Tortas Locas Hipocampo is the top rated restaurant.</a:t>
            </a:r>
          </a:p>
          <a:p>
            <a:pPr marL="571500" lvl="1" indent="0">
              <a:buNone/>
            </a:pPr>
            <a:endParaRPr lang="en-IN" sz="3200" dirty="0"/>
          </a:p>
        </p:txBody>
      </p:sp>
      <p:pic>
        <p:nvPicPr>
          <p:cNvPr id="2054" name="Picture 6" descr="Consumer Insights icon line vector illustration 35316802 Vector Art at  Vecteezy">
            <a:extLst>
              <a:ext uri="{FF2B5EF4-FFF2-40B4-BE49-F238E27FC236}">
                <a16:creationId xmlns:a16="http://schemas.microsoft.com/office/drawing/2014/main" id="{C7843742-36BD-14A0-1826-1B638B788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21768"/>
            <a:ext cx="875505" cy="875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7804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12CA-2FDB-2898-D193-CF9F20C2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           Recommendations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5FD8BF-B844-46F9-912B-A71BBB268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200" dirty="0"/>
              <a:t>Offer student combo deals &amp; loyalty plans</a:t>
            </a:r>
          </a:p>
          <a:p>
            <a:pPr lvl="1"/>
            <a:r>
              <a:rPr lang="en-US" sz="3200" dirty="0"/>
              <a:t>Improve food quality in low-rated restaurants</a:t>
            </a:r>
          </a:p>
          <a:p>
            <a:pPr lvl="1"/>
            <a:r>
              <a:rPr lang="en-US" sz="3200" dirty="0"/>
              <a:t>Promote popular cuisines like Mexican/American</a:t>
            </a:r>
          </a:p>
          <a:p>
            <a:pPr lvl="1"/>
            <a:r>
              <a:rPr lang="en-US" sz="3200" dirty="0"/>
              <a:t>Enhance parking facilities</a:t>
            </a:r>
          </a:p>
          <a:p>
            <a:pPr lvl="1"/>
            <a:r>
              <a:rPr lang="en-US" sz="3200" dirty="0"/>
              <a:t>Expand successful franchise-style restaurants</a:t>
            </a:r>
          </a:p>
          <a:p>
            <a:endParaRPr lang="en-IN" sz="3200" dirty="0"/>
          </a:p>
        </p:txBody>
      </p:sp>
      <p:pic>
        <p:nvPicPr>
          <p:cNvPr id="3076" name="Picture 4" descr="Recommendation icon Vector Images &amp; Graphics for Commercial Use |  VectorStock">
            <a:extLst>
              <a:ext uri="{FF2B5EF4-FFF2-40B4-BE49-F238E27FC236}">
                <a16:creationId xmlns:a16="http://schemas.microsoft.com/office/drawing/2014/main" id="{1588111C-4616-D342-3C05-B88F99726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37" y="236802"/>
            <a:ext cx="1380063" cy="145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829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72A6-B1CE-2F08-6660-26C9C9B54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724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/>
              <a:t>       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54879-98D8-55F9-8DFA-BD9F0901C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82657"/>
            <a:ext cx="10515600" cy="4786472"/>
          </a:xfrm>
        </p:spPr>
        <p:txBody>
          <a:bodyPr/>
          <a:lstStyle/>
          <a:p>
            <a:r>
              <a:rPr lang="en-US" dirty="0"/>
              <a:t>SQL analysis helped uncover clear patterns in consumer preferences and restaurant ratings.</a:t>
            </a:r>
          </a:p>
          <a:p>
            <a:r>
              <a:rPr lang="en-US" dirty="0"/>
              <a:t>Most popular cuisines, active customer groups, and performance gaps were identified.</a:t>
            </a:r>
          </a:p>
          <a:p>
            <a:r>
              <a:rPr lang="en-US" dirty="0"/>
              <a:t>Insights can guide restaurants to improve service, pricing, quality, and marketing strategies.</a:t>
            </a:r>
          </a:p>
          <a:p>
            <a:r>
              <a:rPr lang="en-US" dirty="0"/>
              <a:t>The project proves practical knowledge of SQL and how data can support business decision-making.</a:t>
            </a:r>
          </a:p>
          <a:p>
            <a:endParaRPr lang="en-IN" dirty="0"/>
          </a:p>
        </p:txBody>
      </p:sp>
      <p:pic>
        <p:nvPicPr>
          <p:cNvPr id="4100" name="Picture 4" descr="Vector Illustration Doodle Speech Bubble Conclusion">
            <a:extLst>
              <a:ext uri="{FF2B5EF4-FFF2-40B4-BE49-F238E27FC236}">
                <a16:creationId xmlns:a16="http://schemas.microsoft.com/office/drawing/2014/main" id="{419249B7-CB5E-9518-067D-47D05A2456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62"/>
          <a:stretch>
            <a:fillRect/>
          </a:stretch>
        </p:blipFill>
        <p:spPr bwMode="auto">
          <a:xfrm>
            <a:off x="709083" y="508443"/>
            <a:ext cx="944349" cy="947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93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DABD7-8A3A-C029-90A2-6F365689A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        Experience /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4ECA1-699B-4E28-C6EB-BD2DD8C6D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3200" dirty="0"/>
              <a:t>Understanding foreign-key relationships</a:t>
            </a:r>
          </a:p>
          <a:p>
            <a:pPr lvl="1"/>
            <a:r>
              <a:rPr lang="en-US" sz="3200" dirty="0"/>
              <a:t>Optimizing JOIN queries</a:t>
            </a:r>
          </a:p>
          <a:p>
            <a:pPr lvl="1"/>
            <a:r>
              <a:rPr lang="en-US" sz="3200" dirty="0"/>
              <a:t>Cleaning &amp; exploring large datasets</a:t>
            </a:r>
          </a:p>
          <a:p>
            <a:pPr lvl="1"/>
            <a:r>
              <a:rPr lang="en-US" sz="3200" dirty="0"/>
              <a:t>Mapping business questions to SQL</a:t>
            </a:r>
          </a:p>
          <a:p>
            <a:pPr lvl="1"/>
            <a:r>
              <a:rPr lang="en-US" sz="3200" dirty="0"/>
              <a:t>Hands-on real data analysis experience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340038-8EBE-90A3-B614-D2EAFB161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7272"/>
            <a:ext cx="821267" cy="82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620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554</Words>
  <Application>Microsoft Office PowerPoint</Application>
  <PresentationFormat>Widescreen</PresentationFormat>
  <Paragraphs>73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Libre Baskerville</vt:lpstr>
      <vt:lpstr>Times New Roman</vt:lpstr>
      <vt:lpstr>Calibri</vt:lpstr>
      <vt:lpstr>Arial</vt:lpstr>
      <vt:lpstr>Arial Black</vt:lpstr>
      <vt:lpstr>Office Theme</vt:lpstr>
      <vt:lpstr>PowerPoint Presentation</vt:lpstr>
      <vt:lpstr>About me</vt:lpstr>
      <vt:lpstr>        Objective</vt:lpstr>
      <vt:lpstr>Dataset &amp; Schema Overview</vt:lpstr>
      <vt:lpstr>Dataset &amp; Schema Overview</vt:lpstr>
      <vt:lpstr>Dataset &amp; Schema Overview</vt:lpstr>
      <vt:lpstr>ER-Diagram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Business Insights</vt:lpstr>
      <vt:lpstr>           Recommendations</vt:lpstr>
      <vt:lpstr>        Conclusion</vt:lpstr>
      <vt:lpstr>        Experience / Challenges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anil kumar</cp:lastModifiedBy>
  <cp:revision>6</cp:revision>
  <dcterms:created xsi:type="dcterms:W3CDTF">2021-02-16T05:19:01Z</dcterms:created>
  <dcterms:modified xsi:type="dcterms:W3CDTF">2025-12-02T19:15:53Z</dcterms:modified>
</cp:coreProperties>
</file>